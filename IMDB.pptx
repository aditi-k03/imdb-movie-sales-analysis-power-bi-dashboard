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69" r:id="rId3"/>
    <p:sldId id="270" r:id="rId4"/>
    <p:sldId id="277" r:id="rId5"/>
    <p:sldId id="278" r:id="rId6"/>
    <p:sldId id="272" r:id="rId7"/>
    <p:sldId id="276" r:id="rId8"/>
    <p:sldId id="271" r:id="rId9"/>
    <p:sldId id="267" r:id="rId1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876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78F543-A8AD-47D8-998B-E081BAB2945E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2C2E8F-DFCA-4BF4-9B0E-669A655C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155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C2E8F-DFCA-4BF4-9B0E-669A655CD6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631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750" b="1" i="0">
                <a:solidFill>
                  <a:srgbClr val="1D1D1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350" b="1" i="0">
                <a:solidFill>
                  <a:srgbClr val="1D1D1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750" b="1" i="0">
                <a:solidFill>
                  <a:srgbClr val="1D1D1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350" b="1" i="0">
                <a:solidFill>
                  <a:srgbClr val="1D1D1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750" b="1" i="0">
                <a:solidFill>
                  <a:srgbClr val="1D1D1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750" b="1" i="0">
                <a:solidFill>
                  <a:srgbClr val="1D1D1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-1"/>
            <a:ext cx="5953124" cy="102869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34875" y="0"/>
            <a:ext cx="5953125" cy="102870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6819900" cy="552450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4761" y="4757"/>
            <a:ext cx="6815455" cy="5520055"/>
          </a:xfrm>
          <a:custGeom>
            <a:avLst/>
            <a:gdLst/>
            <a:ahLst/>
            <a:cxnLst/>
            <a:rect l="l" t="t" r="r" b="b"/>
            <a:pathLst>
              <a:path w="6815455" h="5520055">
                <a:moveTo>
                  <a:pt x="0" y="5519742"/>
                </a:moveTo>
                <a:lnTo>
                  <a:pt x="6815138" y="5519742"/>
                </a:lnTo>
                <a:lnTo>
                  <a:pt x="6815138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334750" y="0"/>
            <a:ext cx="6953250" cy="5524500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11334750" y="4757"/>
            <a:ext cx="6953250" cy="5520055"/>
          </a:xfrm>
          <a:custGeom>
            <a:avLst/>
            <a:gdLst/>
            <a:ahLst/>
            <a:cxnLst/>
            <a:rect l="l" t="t" r="r" b="b"/>
            <a:pathLst>
              <a:path w="6953250" h="5520055">
                <a:moveTo>
                  <a:pt x="0" y="0"/>
                </a:moveTo>
                <a:lnTo>
                  <a:pt x="0" y="5519742"/>
                </a:lnTo>
                <a:lnTo>
                  <a:pt x="6953250" y="5519742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53125" y="0"/>
            <a:ext cx="6248400" cy="5524500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5953125" y="4757"/>
            <a:ext cx="6248400" cy="5520055"/>
          </a:xfrm>
          <a:custGeom>
            <a:avLst/>
            <a:gdLst/>
            <a:ahLst/>
            <a:cxnLst/>
            <a:rect l="l" t="t" r="r" b="b"/>
            <a:pathLst>
              <a:path w="6248400" h="5520055">
                <a:moveTo>
                  <a:pt x="0" y="0"/>
                </a:moveTo>
                <a:lnTo>
                  <a:pt x="0" y="5519742"/>
                </a:lnTo>
                <a:lnTo>
                  <a:pt x="6248400" y="5519742"/>
                </a:lnTo>
                <a:lnTo>
                  <a:pt x="62484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635" y="931862"/>
            <a:ext cx="5868670" cy="2614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750" b="1" i="0">
                <a:solidFill>
                  <a:srgbClr val="1D1D1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32685" y="2101342"/>
            <a:ext cx="13422629" cy="4066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350" b="1" i="0">
                <a:solidFill>
                  <a:srgbClr val="1D1D1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6329"/>
            <a:ext cx="18288000" cy="10287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0" y="8646493"/>
            <a:ext cx="17939657" cy="1217641"/>
          </a:xfrm>
          <a:prstGeom prst="rect">
            <a:avLst/>
          </a:prstGeom>
        </p:spPr>
        <p:txBody>
          <a:bodyPr vert="horz" wrap="square" lIns="0" tIns="2051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lang="en-IN" sz="3200" spc="150" dirty="0">
                <a:highlight>
                  <a:srgbClr val="FFFF00"/>
                </a:highlight>
              </a:rPr>
              <a:t>Presented By :- Aditi Khade</a:t>
            </a:r>
          </a:p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lang="en-IN" sz="3200" spc="150" dirty="0">
                <a:highlight>
                  <a:srgbClr val="FFFF00"/>
                </a:highlight>
              </a:rPr>
              <a:t>Batch No. :- 393                                    </a:t>
            </a:r>
            <a:endParaRPr sz="3200" dirty="0">
              <a:highlight>
                <a:srgbClr val="FFFF00"/>
              </a:highlight>
              <a:latin typeface="Trebuchet MS"/>
              <a:cs typeface="Trebuchet MS"/>
            </a:endParaRP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6F47BF6D-2E00-11F0-7E8B-CE08BACC2885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485900" y="16329"/>
            <a:ext cx="15316200" cy="2667000"/>
          </a:xfrm>
          <a:prstGeom prst="rect">
            <a:avLst/>
          </a:prstGeom>
          <a:ln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569CD74-3DA3-6E9C-9AF0-966C0B78763F}"/>
              </a:ext>
            </a:extLst>
          </p:cNvPr>
          <p:cNvSpPr/>
          <p:nvPr/>
        </p:nvSpPr>
        <p:spPr>
          <a:xfrm>
            <a:off x="0" y="3516086"/>
            <a:ext cx="18288000" cy="489364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sz="15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IMDB MOVIE </a:t>
            </a:r>
            <a:endParaRPr lang="en-IN" sz="156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pPr algn="ctr"/>
            <a:r>
              <a:rPr lang="en-IN" sz="15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SALES </a:t>
            </a:r>
            <a:r>
              <a:rPr sz="15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ANALYSIS</a:t>
            </a:r>
            <a:endParaRPr lang="en-US" sz="156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0C606B-5368-F7EF-45E9-A200B9FF2069}"/>
              </a:ext>
            </a:extLst>
          </p:cNvPr>
          <p:cNvSpPr txBox="1"/>
          <p:nvPr/>
        </p:nvSpPr>
        <p:spPr>
          <a:xfrm>
            <a:off x="5181600" y="2486939"/>
            <a:ext cx="1005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spc="190" dirty="0">
                <a:solidFill>
                  <a:srgbClr val="1D1D1F"/>
                </a:solidFill>
                <a:highlight>
                  <a:srgbClr val="FFFF00"/>
                </a:highlight>
                <a:latin typeface="Trebuchet MS"/>
                <a:ea typeface="+mn-ea"/>
              </a:rPr>
              <a:t>Power BI Project </a:t>
            </a:r>
            <a:endParaRPr lang="en-US" sz="6000" b="1" spc="190" dirty="0">
              <a:solidFill>
                <a:srgbClr val="1D1D1F"/>
              </a:solidFill>
              <a:highlight>
                <a:srgbClr val="FFFF00"/>
              </a:highlight>
              <a:latin typeface="Trebuchet MS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7325F-D299-876E-856A-25DA36A66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006350"/>
            <a:ext cx="16459200" cy="1354217"/>
          </a:xfrm>
        </p:spPr>
        <p:txBody>
          <a:bodyPr/>
          <a:lstStyle/>
          <a:p>
            <a:pPr algn="ctr"/>
            <a:r>
              <a:rPr lang="en-US" sz="8800" u="sng" spc="254" dirty="0"/>
              <a:t>PROJECT </a:t>
            </a:r>
            <a:r>
              <a:rPr lang="en-US" sz="8800" u="sng" spc="515" dirty="0"/>
              <a:t>OVERVIEW</a:t>
            </a:r>
            <a:endParaRPr lang="en-US" u="s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D634F7-D830-42A1-037B-4CBE7BCEADB6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8077200" y="2790553"/>
            <a:ext cx="9982200" cy="6647974"/>
          </a:xfrm>
        </p:spPr>
        <p:txBody>
          <a:bodyPr/>
          <a:lstStyle/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3600" b="0" dirty="0">
                <a:latin typeface="+mj-lt"/>
                <a:cs typeface="Times New Roman" panose="02020603050405020304" pitchFamily="18" charset="0"/>
              </a:rPr>
              <a:t>Project Goal is Analyse an IMDb movie dataset to uncover insights related to genres, durations, languages, directors, and budgets.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endParaRPr lang="en-IN" sz="3600" b="0" dirty="0">
              <a:latin typeface="+mj-lt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3600" b="0" dirty="0">
                <a:latin typeface="+mj-lt"/>
                <a:cs typeface="Times New Roman" panose="02020603050405020304" pitchFamily="18" charset="0"/>
              </a:rPr>
              <a:t>Objectives is Understand the distribution of these features (genres, durations, etc.)  &amp; Examine their impact on IMDb scores.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endParaRPr lang="en-IN" sz="3600" b="0" dirty="0">
              <a:latin typeface="+mj-lt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3600" b="0" dirty="0">
                <a:latin typeface="+mj-lt"/>
                <a:cs typeface="Times New Roman" panose="02020603050405020304" pitchFamily="18" charset="0"/>
              </a:rPr>
              <a:t>This analysis to identify patterns and trends that contribute to movie success.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endParaRPr lang="en-IN" sz="3600" b="0" dirty="0">
              <a:latin typeface="+mj-lt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§"/>
            </a:pPr>
            <a:endParaRPr lang="en-US" sz="3600" b="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FB13645A-693D-09B2-A9FD-BA2A16BA54AE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609600" y="2781300"/>
            <a:ext cx="6705600" cy="67894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image1.png">
            <a:extLst>
              <a:ext uri="{FF2B5EF4-FFF2-40B4-BE49-F238E27FC236}">
                <a16:creationId xmlns:a16="http://schemas.microsoft.com/office/drawing/2014/main" id="{6A1568E5-47D3-35C1-A68E-4ADDFE076204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-150586" y="0"/>
            <a:ext cx="5943600" cy="10287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775795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6A9FE-8B6C-9160-9F29-6232B8C98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F9C50-9BB2-32BD-6534-8B2E39B10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006350"/>
            <a:ext cx="16459200" cy="1354217"/>
          </a:xfrm>
        </p:spPr>
        <p:txBody>
          <a:bodyPr/>
          <a:lstStyle/>
          <a:p>
            <a:pPr algn="ctr"/>
            <a:r>
              <a:rPr lang="en-US" sz="8800" u="sng" spc="515" dirty="0"/>
              <a:t>APPROACH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BB5FE-A36C-EFF3-3730-E19F0D979181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8077200" y="2790553"/>
            <a:ext cx="10210800" cy="7386638"/>
          </a:xfrm>
        </p:spPr>
        <p:txBody>
          <a:bodyPr/>
          <a:lstStyle/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4000" dirty="0">
                <a:latin typeface="+mj-lt"/>
                <a:cs typeface="Times New Roman" panose="02020603050405020304" pitchFamily="18" charset="0"/>
              </a:rPr>
              <a:t>Data Cleaning </a:t>
            </a:r>
            <a:r>
              <a:rPr lang="en-IN" sz="4000" b="0" dirty="0">
                <a:latin typeface="+mj-lt"/>
                <a:cs typeface="Times New Roman" panose="02020603050405020304" pitchFamily="18" charset="0"/>
              </a:rPr>
              <a:t>:- Removed rows with missing values in key columns.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4000" dirty="0">
                <a:latin typeface="+mj-lt"/>
                <a:cs typeface="Times New Roman" panose="02020603050405020304" pitchFamily="18" charset="0"/>
              </a:rPr>
              <a:t>Genre Analysis </a:t>
            </a:r>
            <a:r>
              <a:rPr lang="en-IN" sz="4000" b="0" dirty="0">
                <a:latin typeface="+mj-lt"/>
                <a:cs typeface="Times New Roman" panose="02020603050405020304" pitchFamily="18" charset="0"/>
              </a:rPr>
              <a:t>:- “Exploded” the genres column so each genre is analysed separately and computed descriptive statistics for IMDb scores by genre.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4000" dirty="0">
                <a:latin typeface="+mj-lt"/>
                <a:cs typeface="Times New Roman" panose="02020603050405020304" pitchFamily="18" charset="0"/>
              </a:rPr>
              <a:t>Revenue Analysis </a:t>
            </a:r>
            <a:r>
              <a:rPr lang="en-IN" sz="4000" b="0" dirty="0">
                <a:latin typeface="+mj-lt"/>
                <a:cs typeface="Times New Roman" panose="02020603050405020304" pitchFamily="18" charset="0"/>
              </a:rPr>
              <a:t>:- Identified movies with the highest profit margins (revenue minus budget).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4000" dirty="0">
                <a:latin typeface="+mj-lt"/>
                <a:cs typeface="Times New Roman" panose="02020603050405020304" pitchFamily="18" charset="0"/>
              </a:rPr>
              <a:t>Rating Analysis </a:t>
            </a:r>
            <a:r>
              <a:rPr lang="en-IN" sz="4000" b="0" dirty="0">
                <a:latin typeface="+mj-lt"/>
                <a:cs typeface="Times New Roman" panose="02020603050405020304" pitchFamily="18" charset="0"/>
              </a:rPr>
              <a:t>:- Compared IMDb score, rating, and vote count for high-profit vs. low-profit films.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endParaRPr lang="en-US" sz="4000" b="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6" name="image1.png">
            <a:extLst>
              <a:ext uri="{FF2B5EF4-FFF2-40B4-BE49-F238E27FC236}">
                <a16:creationId xmlns:a16="http://schemas.microsoft.com/office/drawing/2014/main" id="{65169C8A-D228-9CE1-C403-F96006C338D6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-150586" y="0"/>
            <a:ext cx="5943600" cy="1028700"/>
          </a:xfrm>
          <a:prstGeom prst="rect">
            <a:avLst/>
          </a:prstGeom>
          <a:ln/>
        </p:spPr>
      </p:pic>
      <p:pic>
        <p:nvPicPr>
          <p:cNvPr id="8" name="object 2">
            <a:extLst>
              <a:ext uri="{FF2B5EF4-FFF2-40B4-BE49-F238E27FC236}">
                <a16:creationId xmlns:a16="http://schemas.microsoft.com/office/drawing/2014/main" id="{9F6053D5-E8EF-6DD4-BEA3-7D9AE0EDA566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346982" y="2644445"/>
            <a:ext cx="6849836" cy="29244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object 3">
            <a:extLst>
              <a:ext uri="{FF2B5EF4-FFF2-40B4-BE49-F238E27FC236}">
                <a16:creationId xmlns:a16="http://schemas.microsoft.com/office/drawing/2014/main" id="{6E7A9FDB-02B5-1E6F-6D00-383C5DCCB80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6982" y="5563449"/>
            <a:ext cx="3448050" cy="40671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object 4">
            <a:extLst>
              <a:ext uri="{FF2B5EF4-FFF2-40B4-BE49-F238E27FC236}">
                <a16:creationId xmlns:a16="http://schemas.microsoft.com/office/drawing/2014/main" id="{7E98BB25-E773-4D5C-12C1-ED3FEA59F1E2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39243" y="5563449"/>
            <a:ext cx="3457575" cy="40671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B63FB3-15D6-D248-64C6-4F7B5A917304}"/>
              </a:ext>
            </a:extLst>
          </p:cNvPr>
          <p:cNvSpPr txBox="1"/>
          <p:nvPr/>
        </p:nvSpPr>
        <p:spPr>
          <a:xfrm>
            <a:off x="4533900" y="4953391"/>
            <a:ext cx="9372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345" dirty="0"/>
              <a:t>BACKGROUND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647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FF8FC-3F2C-7E17-828E-8EEE1D0BD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97250-8901-4006-A461-3F080FAB9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006350"/>
            <a:ext cx="16459200" cy="1354217"/>
          </a:xfrm>
        </p:spPr>
        <p:txBody>
          <a:bodyPr/>
          <a:lstStyle/>
          <a:p>
            <a:pPr algn="ctr"/>
            <a:r>
              <a:rPr lang="en-US" sz="8800" u="sng" spc="515" dirty="0"/>
              <a:t>BACKGROUND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DD793F-4540-58FC-9554-D9BB1C58A80B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687614" y="3041424"/>
            <a:ext cx="7160986" cy="4385816"/>
          </a:xfrm>
        </p:spPr>
        <p:txBody>
          <a:bodyPr/>
          <a:lstStyle/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en-US" sz="4500" dirty="0">
                <a:latin typeface="+mj-lt"/>
                <a:cs typeface="Times New Roman" panose="02020603050405020304" pitchFamily="18" charset="0"/>
              </a:rPr>
              <a:t>TOOLS &amp; TECHNOLOGIES 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b="0" dirty="0">
                <a:latin typeface="+mj-lt"/>
                <a:cs typeface="Times New Roman" panose="02020603050405020304" pitchFamily="18" charset="0"/>
              </a:rPr>
              <a:t>Power BI Desktop – Visualizations &amp; DAX Power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b="0" dirty="0">
                <a:latin typeface="+mj-lt"/>
                <a:cs typeface="Times New Roman" panose="02020603050405020304" pitchFamily="18" charset="0"/>
              </a:rPr>
              <a:t>Query – Data transformation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b="0" dirty="0">
                <a:latin typeface="+mj-lt"/>
                <a:cs typeface="Times New Roman" panose="02020603050405020304" pitchFamily="18" charset="0"/>
              </a:rPr>
              <a:t>Excel/CSV – Raw dataset source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b="0" dirty="0">
                <a:latin typeface="+mj-lt"/>
                <a:cs typeface="Times New Roman" panose="02020603050405020304" pitchFamily="18" charset="0"/>
              </a:rPr>
              <a:t>DAX – Measures &amp; calculated columns</a:t>
            </a:r>
          </a:p>
        </p:txBody>
      </p:sp>
      <p:pic>
        <p:nvPicPr>
          <p:cNvPr id="6" name="image1.png">
            <a:extLst>
              <a:ext uri="{FF2B5EF4-FFF2-40B4-BE49-F238E27FC236}">
                <a16:creationId xmlns:a16="http://schemas.microsoft.com/office/drawing/2014/main" id="{DC2E262E-69C0-CF21-F0AD-41FEC3B06E10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-150586" y="0"/>
            <a:ext cx="5943600" cy="1028700"/>
          </a:xfrm>
          <a:prstGeom prst="rect">
            <a:avLst/>
          </a:prstGeom>
          <a:ln/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2E36526-2BCC-8D17-54C7-34541A3DB7FE}"/>
              </a:ext>
            </a:extLst>
          </p:cNvPr>
          <p:cNvSpPr txBox="1">
            <a:spLocks/>
          </p:cNvSpPr>
          <p:nvPr/>
        </p:nvSpPr>
        <p:spPr>
          <a:xfrm>
            <a:off x="8229600" y="2942953"/>
            <a:ext cx="8991600" cy="56015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2350" b="1" i="0">
                <a:solidFill>
                  <a:srgbClr val="1D1D1F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en-IN" sz="4500" dirty="0">
                <a:latin typeface="+mj-lt"/>
                <a:cs typeface="Times New Roman" panose="02020603050405020304" pitchFamily="18" charset="0"/>
              </a:rPr>
              <a:t>KEY VISUALS :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N" sz="4000" b="0" dirty="0">
                <a:latin typeface="+mj-lt"/>
                <a:cs typeface="Times New Roman" panose="02020603050405020304" pitchFamily="18" charset="0"/>
              </a:rPr>
              <a:t>Total Revenue by Year (Stacked Bar Chart)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N" sz="4000" b="0" dirty="0">
                <a:latin typeface="+mj-lt"/>
                <a:cs typeface="Times New Roman" panose="02020603050405020304" pitchFamily="18" charset="0"/>
              </a:rPr>
              <a:t>Revenue by Genre (Stacked Column / Donut Chart)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N" sz="4000" b="0" dirty="0">
                <a:latin typeface="+mj-lt"/>
                <a:cs typeface="Times New Roman" panose="02020603050405020304" pitchFamily="18" charset="0"/>
              </a:rPr>
              <a:t>Trend of movies by rank ,</a:t>
            </a:r>
            <a:r>
              <a:rPr lang="en-IN" sz="4000" b="0" dirty="0" err="1">
                <a:latin typeface="+mj-lt"/>
                <a:cs typeface="Times New Roman" panose="02020603050405020304" pitchFamily="18" charset="0"/>
              </a:rPr>
              <a:t>metascore</a:t>
            </a:r>
            <a:r>
              <a:rPr lang="en-IN" sz="4000" b="0" dirty="0">
                <a:latin typeface="+mj-lt"/>
                <a:cs typeface="Times New Roman" panose="02020603050405020304" pitchFamily="18" charset="0"/>
              </a:rPr>
              <a:t>	(Area Chart)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N" sz="4000" b="0" dirty="0">
                <a:latin typeface="+mj-lt"/>
                <a:cs typeface="Times New Roman" panose="02020603050405020304" pitchFamily="18" charset="0"/>
              </a:rPr>
              <a:t>KPI for Revenue earned by movies (KPI)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N" sz="4000" b="0" dirty="0">
                <a:latin typeface="+mj-lt"/>
                <a:cs typeface="Times New Roman" panose="02020603050405020304" pitchFamily="18" charset="0"/>
              </a:rPr>
              <a:t>Count of movies by Genre(Pie Chart)</a:t>
            </a:r>
            <a:endParaRPr lang="en-US" sz="4000" b="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5" name="object 5">
            <a:extLst>
              <a:ext uri="{FF2B5EF4-FFF2-40B4-BE49-F238E27FC236}">
                <a16:creationId xmlns:a16="http://schemas.microsoft.com/office/drawing/2014/main" id="{F453F715-B3DF-364D-E14E-2929FF80597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7614" y="7805057"/>
            <a:ext cx="624840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216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707ED-6DFC-9915-1966-16C9C448C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EDFA4-14EC-81CB-6C20-35734B4D3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006350"/>
            <a:ext cx="16459200" cy="1354217"/>
          </a:xfrm>
        </p:spPr>
        <p:txBody>
          <a:bodyPr/>
          <a:lstStyle/>
          <a:p>
            <a:pPr algn="ctr"/>
            <a:r>
              <a:rPr lang="en-US" sz="8800" u="sng" spc="515" dirty="0"/>
              <a:t>KEY FEATURES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CDCFF6-CBCA-1584-D808-3F8DE74D5D17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687614" y="3041425"/>
            <a:ext cx="17066986" cy="6168355"/>
          </a:xfrm>
        </p:spPr>
        <p:txBody>
          <a:bodyPr/>
          <a:lstStyle/>
          <a:p>
            <a:pPr marL="1024890" marR="887094" indent="-742950">
              <a:lnSpc>
                <a:spcPct val="100000"/>
              </a:lnSpc>
              <a:spcBef>
                <a:spcPts val="95"/>
              </a:spcBef>
              <a:buFont typeface="+mj-lt"/>
              <a:buAutoNum type="arabicPeriod"/>
              <a:tabLst>
                <a:tab pos="551815" algn="l"/>
                <a:tab pos="623570" algn="l"/>
              </a:tabLst>
            </a:pPr>
            <a:r>
              <a:rPr lang="en-IN" sz="4000" b="0" spc="114" dirty="0">
                <a:latin typeface="Calibri (Headings)"/>
              </a:rPr>
              <a:t>Summary</a:t>
            </a:r>
            <a:r>
              <a:rPr lang="en-IN" sz="4000" b="0" spc="-45" dirty="0">
                <a:latin typeface="Calibri (Headings)"/>
              </a:rPr>
              <a:t> </a:t>
            </a:r>
            <a:r>
              <a:rPr lang="en-IN" sz="4000" b="0" dirty="0">
                <a:latin typeface="Calibri (Headings)"/>
              </a:rPr>
              <a:t>Cards:</a:t>
            </a:r>
            <a:r>
              <a:rPr lang="en-IN" sz="4000" b="0" spc="-60" dirty="0">
                <a:latin typeface="Calibri (Headings)"/>
              </a:rPr>
              <a:t> </a:t>
            </a:r>
            <a:r>
              <a:rPr lang="en-IN" sz="4000" b="0" spc="80" dirty="0">
                <a:latin typeface="Calibri (Headings)"/>
              </a:rPr>
              <a:t>Count</a:t>
            </a:r>
            <a:r>
              <a:rPr lang="en-IN" sz="4000" b="0" spc="-70" dirty="0">
                <a:latin typeface="Calibri (Headings)"/>
              </a:rPr>
              <a:t> </a:t>
            </a:r>
            <a:r>
              <a:rPr lang="en-IN" sz="4000" b="0" spc="65" dirty="0">
                <a:latin typeface="Calibri (Headings)"/>
              </a:rPr>
              <a:t>of</a:t>
            </a:r>
            <a:r>
              <a:rPr lang="en-IN" sz="4000" b="0" spc="-90" dirty="0">
                <a:latin typeface="Calibri (Headings)"/>
              </a:rPr>
              <a:t> </a:t>
            </a:r>
            <a:r>
              <a:rPr lang="en-IN" sz="4000" b="0" spc="-10" dirty="0">
                <a:latin typeface="Calibri (Headings)"/>
              </a:rPr>
              <a:t>titles,</a:t>
            </a:r>
            <a:r>
              <a:rPr lang="en-IN" sz="4000" b="0" spc="-65" dirty="0">
                <a:latin typeface="Calibri (Headings)"/>
              </a:rPr>
              <a:t> </a:t>
            </a:r>
            <a:r>
              <a:rPr lang="en-IN" sz="4000" b="0" spc="45" dirty="0">
                <a:latin typeface="Calibri (Headings)"/>
              </a:rPr>
              <a:t>genres,</a:t>
            </a:r>
            <a:r>
              <a:rPr lang="en-IN" sz="4000" b="0" spc="-70" dirty="0">
                <a:latin typeface="Calibri (Headings)"/>
              </a:rPr>
              <a:t> </a:t>
            </a:r>
            <a:r>
              <a:rPr lang="en-IN" sz="4000" b="0" dirty="0">
                <a:latin typeface="Calibri (Headings)"/>
              </a:rPr>
              <a:t>actors,</a:t>
            </a:r>
            <a:r>
              <a:rPr lang="en-IN" sz="4000" b="0" spc="-60" dirty="0">
                <a:latin typeface="Calibri (Headings)"/>
              </a:rPr>
              <a:t> </a:t>
            </a:r>
            <a:r>
              <a:rPr lang="en-IN" sz="4000" b="0" dirty="0">
                <a:latin typeface="Calibri (Headings)"/>
              </a:rPr>
              <a:t>directors,</a:t>
            </a:r>
            <a:r>
              <a:rPr lang="en-IN" sz="4000" b="0" spc="-65" dirty="0">
                <a:latin typeface="Calibri (Headings)"/>
              </a:rPr>
              <a:t> </a:t>
            </a:r>
            <a:r>
              <a:rPr lang="en-IN" sz="4000" b="0" spc="55" dirty="0">
                <a:latin typeface="Calibri (Headings)"/>
              </a:rPr>
              <a:t>and </a:t>
            </a:r>
            <a:r>
              <a:rPr lang="en-IN" sz="4000" b="0" spc="75" dirty="0">
                <a:latin typeface="Calibri (Headings)"/>
              </a:rPr>
              <a:t>average</a:t>
            </a:r>
            <a:r>
              <a:rPr lang="en-IN" sz="4000" b="0" spc="-120" dirty="0">
                <a:latin typeface="Calibri (Headings)"/>
              </a:rPr>
              <a:t> </a:t>
            </a:r>
            <a:r>
              <a:rPr lang="en-IN" sz="4000" b="0" spc="-10" dirty="0">
                <a:latin typeface="Calibri (Headings)"/>
              </a:rPr>
              <a:t>runtime.</a:t>
            </a:r>
          </a:p>
          <a:p>
            <a:pPr marL="1024890" marR="887094" indent="-742950">
              <a:lnSpc>
                <a:spcPct val="100000"/>
              </a:lnSpc>
              <a:spcBef>
                <a:spcPts val="95"/>
              </a:spcBef>
              <a:buFont typeface="+mj-lt"/>
              <a:buAutoNum type="arabicPeriod"/>
              <a:tabLst>
                <a:tab pos="551815" algn="l"/>
                <a:tab pos="623570" algn="l"/>
              </a:tabLst>
            </a:pPr>
            <a:r>
              <a:rPr lang="en-IN" sz="4000" b="0" dirty="0">
                <a:latin typeface="Calibri (Headings)"/>
              </a:rPr>
              <a:t>Time</a:t>
            </a:r>
            <a:r>
              <a:rPr lang="en-IN" sz="4000" b="0" spc="-114" dirty="0">
                <a:latin typeface="Calibri (Headings)"/>
              </a:rPr>
              <a:t> </a:t>
            </a:r>
            <a:r>
              <a:rPr lang="en-IN" sz="4000" b="0" spc="65" dirty="0">
                <a:latin typeface="Calibri (Headings)"/>
              </a:rPr>
              <a:t>Analysis:</a:t>
            </a:r>
            <a:r>
              <a:rPr lang="en-IN" sz="4000" b="0" spc="-110" dirty="0">
                <a:latin typeface="Calibri (Headings)"/>
              </a:rPr>
              <a:t> </a:t>
            </a:r>
            <a:r>
              <a:rPr lang="en-IN" sz="4000" b="0" spc="65" dirty="0">
                <a:latin typeface="Calibri (Headings)"/>
              </a:rPr>
              <a:t>Revenue</a:t>
            </a:r>
            <a:r>
              <a:rPr lang="en-IN" sz="4000" b="0" spc="-105" dirty="0">
                <a:latin typeface="Calibri (Headings)"/>
              </a:rPr>
              <a:t> </a:t>
            </a:r>
            <a:r>
              <a:rPr lang="en-IN" sz="4000" b="0" spc="70" dirty="0">
                <a:latin typeface="Calibri (Headings)"/>
              </a:rPr>
              <a:t>trends</a:t>
            </a:r>
            <a:r>
              <a:rPr lang="en-IN" sz="4000" b="0" spc="-105" dirty="0">
                <a:latin typeface="Calibri (Headings)"/>
              </a:rPr>
              <a:t> </a:t>
            </a:r>
            <a:r>
              <a:rPr lang="en-IN" sz="4000" b="0" dirty="0">
                <a:latin typeface="Calibri (Headings)"/>
              </a:rPr>
              <a:t>over</a:t>
            </a:r>
            <a:r>
              <a:rPr lang="en-IN" sz="4000" b="0" spc="-125" dirty="0">
                <a:latin typeface="Calibri (Headings)"/>
              </a:rPr>
              <a:t> </a:t>
            </a:r>
            <a:r>
              <a:rPr lang="en-IN" sz="4000" b="0" dirty="0">
                <a:latin typeface="Calibri (Headings)"/>
              </a:rPr>
              <a:t>the</a:t>
            </a:r>
            <a:r>
              <a:rPr lang="en-IN" sz="4000" b="0" spc="-120" dirty="0">
                <a:latin typeface="Calibri (Headings)"/>
              </a:rPr>
              <a:t> </a:t>
            </a:r>
            <a:r>
              <a:rPr lang="en-IN" sz="4000" b="0" spc="80" dirty="0">
                <a:latin typeface="Calibri (Headings)"/>
              </a:rPr>
              <a:t>years</a:t>
            </a:r>
            <a:r>
              <a:rPr lang="en-IN" sz="4000" b="0" spc="-110" dirty="0">
                <a:latin typeface="Calibri (Headings)"/>
              </a:rPr>
              <a:t> </a:t>
            </a:r>
            <a:r>
              <a:rPr lang="en-IN" sz="4000" b="0" spc="65" dirty="0">
                <a:latin typeface="Calibri (Headings)"/>
              </a:rPr>
              <a:t>(2006–2016).</a:t>
            </a:r>
            <a:endParaRPr lang="en-IN" sz="4000" b="0" dirty="0">
              <a:latin typeface="Calibri (Headings)"/>
            </a:endParaRPr>
          </a:p>
          <a:p>
            <a:pPr marL="1024890" marR="2327910" indent="-742950">
              <a:lnSpc>
                <a:spcPct val="100000"/>
              </a:lnSpc>
              <a:buFont typeface="+mj-lt"/>
              <a:buAutoNum type="arabicPeriod"/>
              <a:tabLst>
                <a:tab pos="551815" algn="l"/>
                <a:tab pos="625475" algn="l"/>
              </a:tabLst>
            </a:pPr>
            <a:r>
              <a:rPr lang="en-IN" sz="4000" b="0" spc="140" dirty="0">
                <a:latin typeface="Calibri (Headings)"/>
              </a:rPr>
              <a:t>KPI</a:t>
            </a:r>
            <a:r>
              <a:rPr lang="en-IN" sz="4000" b="0" spc="-135" dirty="0">
                <a:latin typeface="Calibri (Headings)"/>
              </a:rPr>
              <a:t> </a:t>
            </a:r>
            <a:r>
              <a:rPr lang="en-IN" sz="4000" b="0" dirty="0">
                <a:latin typeface="Calibri (Headings)"/>
              </a:rPr>
              <a:t>Tracking:</a:t>
            </a:r>
            <a:r>
              <a:rPr lang="en-IN" sz="4000" b="0" spc="-90" dirty="0">
                <a:latin typeface="Calibri (Headings)"/>
              </a:rPr>
              <a:t> </a:t>
            </a:r>
            <a:r>
              <a:rPr lang="en-IN" sz="4000" b="0" spc="65" dirty="0">
                <a:latin typeface="Calibri (Headings)"/>
              </a:rPr>
              <a:t>Target</a:t>
            </a:r>
            <a:r>
              <a:rPr lang="en-IN" sz="4000" b="0" spc="-95" dirty="0">
                <a:latin typeface="Calibri (Headings)"/>
              </a:rPr>
              <a:t> </a:t>
            </a:r>
            <a:r>
              <a:rPr lang="en-IN" sz="4000" b="0" spc="-25" dirty="0">
                <a:latin typeface="Calibri (Headings)"/>
              </a:rPr>
              <a:t>vs.</a:t>
            </a:r>
            <a:r>
              <a:rPr lang="en-IN" sz="4000" b="0" spc="-120" dirty="0">
                <a:latin typeface="Calibri (Headings)"/>
              </a:rPr>
              <a:t> </a:t>
            </a:r>
            <a:r>
              <a:rPr lang="en-IN" sz="4000" b="0" spc="60" dirty="0">
                <a:latin typeface="Calibri (Headings)"/>
              </a:rPr>
              <a:t>actual</a:t>
            </a:r>
            <a:r>
              <a:rPr lang="en-IN" sz="4000" b="0" spc="-100" dirty="0">
                <a:latin typeface="Calibri (Headings)"/>
              </a:rPr>
              <a:t> </a:t>
            </a:r>
            <a:r>
              <a:rPr lang="en-IN" sz="4000" b="0" spc="-10" dirty="0">
                <a:latin typeface="Calibri (Headings)"/>
              </a:rPr>
              <a:t>revenue,</a:t>
            </a:r>
            <a:r>
              <a:rPr lang="en-IN" sz="4000" b="0" spc="-95" dirty="0">
                <a:latin typeface="Calibri (Headings)"/>
              </a:rPr>
              <a:t> </a:t>
            </a:r>
            <a:r>
              <a:rPr lang="en-IN" sz="4000" b="0" spc="65" dirty="0">
                <a:latin typeface="Calibri (Headings)"/>
              </a:rPr>
              <a:t>including</a:t>
            </a:r>
            <a:r>
              <a:rPr lang="en-IN" sz="4000" b="0" spc="-105" dirty="0">
                <a:latin typeface="Calibri (Headings)"/>
              </a:rPr>
              <a:t> </a:t>
            </a:r>
            <a:r>
              <a:rPr lang="en-IN" sz="4000" b="0" spc="700" dirty="0">
                <a:latin typeface="Calibri (Headings)"/>
              </a:rPr>
              <a:t>% </a:t>
            </a:r>
            <a:r>
              <a:rPr lang="en-IN" sz="4000" b="0" spc="-10" dirty="0">
                <a:latin typeface="Calibri (Headings)"/>
              </a:rPr>
              <a:t>overachievement.</a:t>
            </a:r>
            <a:endParaRPr lang="en-IN" sz="4000" b="0" dirty="0">
              <a:latin typeface="Calibri (Headings)"/>
            </a:endParaRPr>
          </a:p>
          <a:p>
            <a:pPr marL="1024890" marR="5715" indent="-742950">
              <a:lnSpc>
                <a:spcPct val="100000"/>
              </a:lnSpc>
              <a:spcBef>
                <a:spcPts val="5"/>
              </a:spcBef>
              <a:buFont typeface="+mj-lt"/>
              <a:buAutoNum type="arabicPeriod"/>
              <a:tabLst>
                <a:tab pos="551815" algn="l"/>
                <a:tab pos="624840" algn="l"/>
              </a:tabLst>
            </a:pPr>
            <a:r>
              <a:rPr lang="en-IN" sz="4000" b="0" spc="55" dirty="0">
                <a:latin typeface="Calibri (Headings)"/>
              </a:rPr>
              <a:t>Genre</a:t>
            </a:r>
            <a:r>
              <a:rPr lang="en-IN" sz="4000" b="0" spc="-135" dirty="0">
                <a:latin typeface="Calibri (Headings)"/>
              </a:rPr>
              <a:t> </a:t>
            </a:r>
            <a:r>
              <a:rPr lang="en-IN" sz="4000" b="0" dirty="0">
                <a:latin typeface="Calibri (Headings)"/>
              </a:rPr>
              <a:t>Distribution:</a:t>
            </a:r>
            <a:r>
              <a:rPr lang="en-IN" sz="4000" b="0" spc="-114" dirty="0">
                <a:latin typeface="Calibri (Headings)"/>
              </a:rPr>
              <a:t> </a:t>
            </a:r>
            <a:r>
              <a:rPr lang="en-IN" sz="4000" b="0" spc="55" dirty="0">
                <a:latin typeface="Calibri (Headings)"/>
              </a:rPr>
              <a:t>Pie</a:t>
            </a:r>
            <a:r>
              <a:rPr lang="en-IN" sz="4000" b="0" spc="-155" dirty="0">
                <a:latin typeface="Calibri (Headings)"/>
              </a:rPr>
              <a:t> </a:t>
            </a:r>
            <a:r>
              <a:rPr lang="en-IN" sz="4000" b="0" spc="50" dirty="0">
                <a:latin typeface="Calibri (Headings)"/>
              </a:rPr>
              <a:t>chart</a:t>
            </a:r>
            <a:r>
              <a:rPr lang="en-IN" sz="4000" b="0" spc="-120" dirty="0">
                <a:latin typeface="Calibri (Headings)"/>
              </a:rPr>
              <a:t> </a:t>
            </a:r>
            <a:r>
              <a:rPr lang="en-IN" sz="4000" b="0" spc="65" dirty="0">
                <a:latin typeface="Calibri (Headings)"/>
              </a:rPr>
              <a:t>of</a:t>
            </a:r>
            <a:r>
              <a:rPr lang="en-IN" sz="4000" b="0" spc="-160" dirty="0">
                <a:latin typeface="Calibri (Headings)"/>
              </a:rPr>
              <a:t> </a:t>
            </a:r>
            <a:r>
              <a:rPr lang="en-IN" sz="4000" b="0" dirty="0">
                <a:latin typeface="Calibri (Headings)"/>
              </a:rPr>
              <a:t>title</a:t>
            </a:r>
            <a:r>
              <a:rPr lang="en-IN" sz="4000" b="0" spc="-125" dirty="0">
                <a:latin typeface="Calibri (Headings)"/>
              </a:rPr>
              <a:t> </a:t>
            </a:r>
            <a:r>
              <a:rPr lang="en-IN" sz="4000" b="0" spc="60" dirty="0">
                <a:latin typeface="Calibri (Headings)"/>
              </a:rPr>
              <a:t>count</a:t>
            </a:r>
            <a:r>
              <a:rPr lang="en-IN" sz="4000" b="0" spc="-145" dirty="0">
                <a:latin typeface="Calibri (Headings)"/>
              </a:rPr>
              <a:t> </a:t>
            </a:r>
            <a:r>
              <a:rPr lang="en-IN" sz="4000" b="0" spc="90" dirty="0">
                <a:latin typeface="Calibri (Headings)"/>
              </a:rPr>
              <a:t>by</a:t>
            </a:r>
            <a:r>
              <a:rPr lang="en-IN" sz="4000" b="0" spc="-150" dirty="0">
                <a:latin typeface="Calibri (Headings)"/>
              </a:rPr>
              <a:t> </a:t>
            </a:r>
            <a:r>
              <a:rPr lang="en-IN" sz="4000" b="0" spc="85" dirty="0">
                <a:latin typeface="Calibri (Headings)"/>
              </a:rPr>
              <a:t>genre</a:t>
            </a:r>
            <a:r>
              <a:rPr lang="en-IN" sz="4000" b="0" spc="-130" dirty="0">
                <a:latin typeface="Calibri (Headings)"/>
              </a:rPr>
              <a:t> </a:t>
            </a:r>
            <a:r>
              <a:rPr lang="en-IN" sz="4000" b="0" spc="80" dirty="0">
                <a:latin typeface="Calibri (Headings)"/>
              </a:rPr>
              <a:t>and</a:t>
            </a:r>
            <a:r>
              <a:rPr lang="en-IN" sz="4000" b="0" spc="-155" dirty="0">
                <a:latin typeface="Calibri (Headings)"/>
              </a:rPr>
              <a:t> </a:t>
            </a:r>
            <a:r>
              <a:rPr lang="en-IN" sz="4000" b="0" spc="60" dirty="0">
                <a:latin typeface="Calibri (Headings)"/>
              </a:rPr>
              <a:t>bar</a:t>
            </a:r>
            <a:r>
              <a:rPr lang="en-IN" sz="4000" b="0" spc="-145" dirty="0">
                <a:latin typeface="Calibri (Headings)"/>
              </a:rPr>
              <a:t> </a:t>
            </a:r>
            <a:r>
              <a:rPr lang="en-IN" sz="4000" b="0" spc="50" dirty="0">
                <a:latin typeface="Calibri (Headings)"/>
              </a:rPr>
              <a:t>chart</a:t>
            </a:r>
            <a:r>
              <a:rPr lang="en-IN" sz="4000" b="0" spc="-140" dirty="0">
                <a:latin typeface="Calibri (Headings)"/>
              </a:rPr>
              <a:t> </a:t>
            </a:r>
            <a:r>
              <a:rPr lang="en-IN" sz="4000" b="0" spc="40" dirty="0">
                <a:latin typeface="Calibri (Headings)"/>
              </a:rPr>
              <a:t>of </a:t>
            </a:r>
            <a:r>
              <a:rPr lang="en-IN" sz="4000" b="0" dirty="0">
                <a:latin typeface="Calibri (Headings)"/>
              </a:rPr>
              <a:t>revenue</a:t>
            </a:r>
            <a:r>
              <a:rPr lang="en-IN" sz="4000" b="0" spc="-5" dirty="0">
                <a:latin typeface="Calibri (Headings)"/>
              </a:rPr>
              <a:t> </a:t>
            </a:r>
            <a:r>
              <a:rPr lang="en-IN" sz="4000" b="0" spc="90" dirty="0">
                <a:latin typeface="Calibri (Headings)"/>
              </a:rPr>
              <a:t>by</a:t>
            </a:r>
            <a:r>
              <a:rPr lang="en-IN" sz="4000" b="0" spc="-50" dirty="0">
                <a:latin typeface="Calibri (Headings)"/>
              </a:rPr>
              <a:t> </a:t>
            </a:r>
            <a:r>
              <a:rPr lang="en-IN" sz="4000" b="0" spc="-10" dirty="0">
                <a:latin typeface="Calibri (Headings)"/>
              </a:rPr>
              <a:t>genre.</a:t>
            </a:r>
            <a:endParaRPr lang="en-IN" sz="4000" b="0" dirty="0">
              <a:latin typeface="Calibri (Headings)"/>
            </a:endParaRPr>
          </a:p>
          <a:p>
            <a:pPr marL="1024890" marR="5080" indent="-742950">
              <a:lnSpc>
                <a:spcPct val="100000"/>
              </a:lnSpc>
              <a:buFont typeface="+mj-lt"/>
              <a:buAutoNum type="arabicPeriod"/>
              <a:tabLst>
                <a:tab pos="551815" algn="l"/>
                <a:tab pos="628015" algn="l"/>
              </a:tabLst>
            </a:pPr>
            <a:r>
              <a:rPr lang="en-IN" sz="4000" b="0" spc="55" dirty="0">
                <a:latin typeface="Calibri (Headings)"/>
              </a:rPr>
              <a:t>Performance</a:t>
            </a:r>
            <a:r>
              <a:rPr lang="en-IN" sz="4000" b="0" spc="-130" dirty="0">
                <a:latin typeface="Calibri (Headings)"/>
              </a:rPr>
              <a:t> </a:t>
            </a:r>
            <a:r>
              <a:rPr lang="en-IN" sz="4000" b="0" dirty="0">
                <a:latin typeface="Calibri (Headings)"/>
              </a:rPr>
              <a:t>Trends:</a:t>
            </a:r>
            <a:r>
              <a:rPr lang="en-IN" sz="4000" b="0" spc="-135" dirty="0">
                <a:latin typeface="Calibri (Headings)"/>
              </a:rPr>
              <a:t> </a:t>
            </a:r>
            <a:r>
              <a:rPr lang="en-IN" sz="4000" b="0" spc="55" dirty="0">
                <a:latin typeface="Calibri (Headings)"/>
              </a:rPr>
              <a:t>Line</a:t>
            </a:r>
            <a:r>
              <a:rPr lang="en-IN" sz="4000" b="0" spc="-150" dirty="0">
                <a:latin typeface="Calibri (Headings)"/>
              </a:rPr>
              <a:t> </a:t>
            </a:r>
            <a:r>
              <a:rPr lang="en-IN" sz="4000" b="0" spc="50" dirty="0">
                <a:latin typeface="Calibri (Headings)"/>
              </a:rPr>
              <a:t>chart</a:t>
            </a:r>
            <a:r>
              <a:rPr lang="en-IN" sz="4000" b="0" spc="-125" dirty="0">
                <a:latin typeface="Calibri (Headings)"/>
              </a:rPr>
              <a:t> </a:t>
            </a:r>
            <a:r>
              <a:rPr lang="en-IN" sz="4000" b="0" spc="70" dirty="0">
                <a:latin typeface="Calibri (Headings)"/>
              </a:rPr>
              <a:t>combining</a:t>
            </a:r>
            <a:r>
              <a:rPr lang="en-IN" sz="4000" b="0" spc="-160" dirty="0">
                <a:latin typeface="Calibri (Headings)"/>
              </a:rPr>
              <a:t> </a:t>
            </a:r>
            <a:r>
              <a:rPr lang="en-IN" sz="4000" b="0" spc="-10" dirty="0">
                <a:latin typeface="Calibri (Headings)"/>
              </a:rPr>
              <a:t>revenue,</a:t>
            </a:r>
            <a:r>
              <a:rPr lang="en-IN" sz="4000" b="0" spc="-120" dirty="0">
                <a:latin typeface="Calibri (Headings)"/>
              </a:rPr>
              <a:t> </a:t>
            </a:r>
            <a:r>
              <a:rPr lang="en-IN" sz="4000" b="0" spc="65" dirty="0" err="1">
                <a:latin typeface="Calibri (Headings)"/>
              </a:rPr>
              <a:t>Metascore</a:t>
            </a:r>
            <a:r>
              <a:rPr lang="en-IN" sz="4000" b="0" spc="65" dirty="0">
                <a:latin typeface="Calibri (Headings)"/>
              </a:rPr>
              <a:t>,</a:t>
            </a:r>
            <a:r>
              <a:rPr lang="en-IN" sz="4000" b="0" spc="-120" dirty="0">
                <a:latin typeface="Calibri (Headings)"/>
              </a:rPr>
              <a:t> </a:t>
            </a:r>
            <a:r>
              <a:rPr lang="en-IN" sz="4000" b="0" spc="55" dirty="0">
                <a:latin typeface="Calibri (Headings)"/>
              </a:rPr>
              <a:t>and </a:t>
            </a:r>
            <a:r>
              <a:rPr lang="en-IN" sz="4000" b="0" spc="-10" dirty="0">
                <a:latin typeface="Calibri (Headings)"/>
              </a:rPr>
              <a:t>rank.</a:t>
            </a:r>
          </a:p>
          <a:p>
            <a:pPr marL="1024890" marR="5080" indent="-742950">
              <a:lnSpc>
                <a:spcPct val="100000"/>
              </a:lnSpc>
              <a:buFont typeface="+mj-lt"/>
              <a:buAutoNum type="arabicPeriod"/>
              <a:tabLst>
                <a:tab pos="551815" algn="l"/>
                <a:tab pos="628015" algn="l"/>
              </a:tabLst>
            </a:pPr>
            <a:r>
              <a:rPr lang="en-IN" sz="4000" b="0" dirty="0">
                <a:latin typeface="Calibri (Headings)"/>
              </a:rPr>
              <a:t>Filters:</a:t>
            </a:r>
            <a:r>
              <a:rPr lang="en-IN" sz="4000" b="0" spc="-85" dirty="0">
                <a:latin typeface="Calibri (Headings)"/>
              </a:rPr>
              <a:t> </a:t>
            </a:r>
            <a:r>
              <a:rPr lang="en-IN" sz="4000" b="0" spc="-25" dirty="0">
                <a:latin typeface="Calibri (Headings)"/>
              </a:rPr>
              <a:t>Year,</a:t>
            </a:r>
            <a:r>
              <a:rPr lang="en-IN" sz="4000" b="0" spc="-85" dirty="0">
                <a:latin typeface="Calibri (Headings)"/>
              </a:rPr>
              <a:t> </a:t>
            </a:r>
            <a:r>
              <a:rPr lang="en-IN" sz="4000" b="0" spc="-20" dirty="0">
                <a:latin typeface="Calibri (Headings)"/>
              </a:rPr>
              <a:t>Genre,</a:t>
            </a:r>
            <a:r>
              <a:rPr lang="en-IN" sz="4000" b="0" spc="-95" dirty="0">
                <a:latin typeface="Calibri (Headings)"/>
              </a:rPr>
              <a:t> </a:t>
            </a:r>
            <a:r>
              <a:rPr lang="en-IN" sz="4000" b="0" spc="80" dirty="0">
                <a:latin typeface="Calibri (Headings)"/>
              </a:rPr>
              <a:t>and</a:t>
            </a:r>
            <a:r>
              <a:rPr lang="en-IN" sz="4000" b="0" spc="-105" dirty="0">
                <a:latin typeface="Calibri (Headings)"/>
              </a:rPr>
              <a:t> </a:t>
            </a:r>
            <a:r>
              <a:rPr lang="en-IN" sz="4000" b="0" dirty="0">
                <a:latin typeface="Calibri (Headings)"/>
              </a:rPr>
              <a:t>Director</a:t>
            </a:r>
            <a:r>
              <a:rPr lang="en-IN" sz="4000" b="0" spc="-65" dirty="0">
                <a:latin typeface="Calibri (Headings)"/>
              </a:rPr>
              <a:t> </a:t>
            </a:r>
            <a:r>
              <a:rPr lang="en-IN" sz="4000" b="0" spc="80" dirty="0">
                <a:latin typeface="Calibri (Headings)"/>
              </a:rPr>
              <a:t>slicers</a:t>
            </a:r>
            <a:r>
              <a:rPr lang="en-IN" sz="4000" b="0" spc="-75" dirty="0">
                <a:latin typeface="Calibri (Headings)"/>
              </a:rPr>
              <a:t> </a:t>
            </a:r>
            <a:r>
              <a:rPr lang="en-IN" sz="4000" b="0" dirty="0">
                <a:latin typeface="Calibri (Headings)"/>
              </a:rPr>
              <a:t>for</a:t>
            </a:r>
            <a:r>
              <a:rPr lang="en-IN" sz="4000" b="0" spc="-110" dirty="0">
                <a:latin typeface="Calibri (Headings)"/>
              </a:rPr>
              <a:t> </a:t>
            </a:r>
            <a:r>
              <a:rPr lang="en-IN" sz="4000" b="0" spc="65" dirty="0">
                <a:latin typeface="Calibri (Headings)"/>
              </a:rPr>
              <a:t>deep</a:t>
            </a:r>
            <a:r>
              <a:rPr lang="en-IN" sz="4000" b="0" spc="-90" dirty="0">
                <a:latin typeface="Calibri (Headings)"/>
              </a:rPr>
              <a:t> </a:t>
            </a:r>
            <a:r>
              <a:rPr lang="en-IN" sz="4000" b="0" dirty="0">
                <a:latin typeface="Calibri (Headings)"/>
              </a:rPr>
              <a:t>dive</a:t>
            </a:r>
            <a:r>
              <a:rPr lang="en-IN" sz="4000" b="0" spc="-95" dirty="0">
                <a:latin typeface="Calibri (Headings)"/>
              </a:rPr>
              <a:t> </a:t>
            </a:r>
            <a:r>
              <a:rPr lang="en-IN" sz="4000" b="0" spc="35" dirty="0">
                <a:latin typeface="Calibri (Headings)"/>
              </a:rPr>
              <a:t>analysis.</a:t>
            </a:r>
            <a:endParaRPr lang="en-IN" sz="4000" b="0" dirty="0">
              <a:latin typeface="Calibri (Headings)"/>
            </a:endParaRPr>
          </a:p>
          <a:p>
            <a:pPr marL="12700">
              <a:lnSpc>
                <a:spcPct val="100000"/>
              </a:lnSpc>
            </a:pPr>
            <a:endParaRPr lang="en-US" sz="4000" b="0" dirty="0">
              <a:latin typeface="Calibri (Headings)"/>
              <a:cs typeface="Times New Roman" panose="02020603050405020304" pitchFamily="18" charset="0"/>
            </a:endParaRPr>
          </a:p>
        </p:txBody>
      </p:sp>
      <p:pic>
        <p:nvPicPr>
          <p:cNvPr id="6" name="image1.png">
            <a:extLst>
              <a:ext uri="{FF2B5EF4-FFF2-40B4-BE49-F238E27FC236}">
                <a16:creationId xmlns:a16="http://schemas.microsoft.com/office/drawing/2014/main" id="{49B2A57D-14F7-5F8B-46AB-347A0FAC410E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-150586" y="0"/>
            <a:ext cx="5943600" cy="10287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308047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B5631-617A-C1A9-C161-A2589BEF3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6EA55-6B74-CEA8-BD18-A13006640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76300"/>
            <a:ext cx="18288000" cy="1231106"/>
          </a:xfrm>
        </p:spPr>
        <p:txBody>
          <a:bodyPr/>
          <a:lstStyle/>
          <a:p>
            <a:pPr algn="ctr"/>
            <a:r>
              <a:rPr lang="en-US" sz="8000" u="sng" spc="515" dirty="0"/>
              <a:t>DASHBOARD</a:t>
            </a:r>
          </a:p>
        </p:txBody>
      </p:sp>
      <p:pic>
        <p:nvPicPr>
          <p:cNvPr id="6" name="image1.png">
            <a:extLst>
              <a:ext uri="{FF2B5EF4-FFF2-40B4-BE49-F238E27FC236}">
                <a16:creationId xmlns:a16="http://schemas.microsoft.com/office/drawing/2014/main" id="{8AD3CC00-56FA-B00E-BEF4-74FCFAABC42E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-150586" y="0"/>
            <a:ext cx="5943600" cy="1028700"/>
          </a:xfrm>
          <a:prstGeom prst="rect">
            <a:avLst/>
          </a:prstGeom>
          <a:ln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3CA0E0F-D5A8-B3F7-306E-744C54E04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07406"/>
            <a:ext cx="18288000" cy="8179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780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7E6E1-E2CF-7E58-207B-E0FA9D0B7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5BADD-C038-6976-29E2-29EE4B076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006350"/>
            <a:ext cx="16459200" cy="1028701"/>
          </a:xfrm>
        </p:spPr>
        <p:txBody>
          <a:bodyPr/>
          <a:lstStyle/>
          <a:p>
            <a:pPr algn="ctr"/>
            <a:r>
              <a:rPr lang="en-US" sz="8800" u="sng" spc="254"/>
              <a:t>SUMMARY &amp; INSIGHTS</a:t>
            </a:r>
            <a:endParaRPr lang="en-US" sz="8800" u="sng" spc="254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474CC-ABBF-0795-12F4-9C359DBF3326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228600" y="2705100"/>
            <a:ext cx="11734800" cy="6601807"/>
          </a:xfrm>
        </p:spPr>
        <p:txBody>
          <a:bodyPr/>
          <a:lstStyle/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3300" dirty="0">
                <a:latin typeface="+mj-lt"/>
                <a:cs typeface="Times New Roman" panose="02020603050405020304" pitchFamily="18" charset="0"/>
              </a:rPr>
              <a:t>Time Trends </a:t>
            </a:r>
            <a:r>
              <a:rPr lang="en-IN" sz="3300" b="0" dirty="0">
                <a:latin typeface="+mj-lt"/>
                <a:cs typeface="Times New Roman" panose="02020603050405020304" pitchFamily="18" charset="0"/>
              </a:rPr>
              <a:t>:- No strong correlation between movie duration and IMDb score. 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3300" dirty="0">
                <a:latin typeface="+mj-lt"/>
                <a:cs typeface="Times New Roman" panose="02020603050405020304" pitchFamily="18" charset="0"/>
              </a:rPr>
              <a:t>Genres</a:t>
            </a:r>
            <a:r>
              <a:rPr lang="en-IN" sz="3300" b="0" dirty="0">
                <a:latin typeface="+mj-lt"/>
                <a:cs typeface="Times New Roman" panose="02020603050405020304" pitchFamily="18" charset="0"/>
              </a:rPr>
              <a:t> :- Action &amp; Drama are popular with consistent scores. 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3300" dirty="0">
                <a:latin typeface="+mj-lt"/>
                <a:cs typeface="Times New Roman" panose="02020603050405020304" pitchFamily="18" charset="0"/>
              </a:rPr>
              <a:t>Ratings</a:t>
            </a:r>
            <a:r>
              <a:rPr lang="en-IN" sz="3300" b="0" dirty="0">
                <a:latin typeface="+mj-lt"/>
                <a:cs typeface="Times New Roman" panose="02020603050405020304" pitchFamily="18" charset="0"/>
              </a:rPr>
              <a:t> :- A weak positive correlation exists between rating and revenue , indicating higher-scoring movies tend to earn more.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3300" dirty="0">
                <a:latin typeface="+mj-lt"/>
                <a:cs typeface="Times New Roman" panose="02020603050405020304" pitchFamily="18" charset="0"/>
              </a:rPr>
              <a:t>Top Movies Performance </a:t>
            </a:r>
            <a:r>
              <a:rPr lang="en-IN" sz="3300" b="0" dirty="0">
                <a:latin typeface="+mj-lt"/>
                <a:cs typeface="Times New Roman" panose="02020603050405020304" pitchFamily="18" charset="0"/>
              </a:rPr>
              <a:t>:- “The Dark Knight” ($17M), “Inception” ($15M).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3300" dirty="0">
                <a:latin typeface="+mj-lt"/>
                <a:cs typeface="Times New Roman" panose="02020603050405020304" pitchFamily="18" charset="0"/>
              </a:rPr>
              <a:t>Revenue </a:t>
            </a:r>
            <a:r>
              <a:rPr lang="en-IN" sz="3300" b="0" dirty="0">
                <a:latin typeface="+mj-lt"/>
                <a:cs typeface="Times New Roman" panose="02020603050405020304" pitchFamily="18" charset="0"/>
              </a:rPr>
              <a:t>:- Budget and revenue show a strong positive correlation While high‑budget movies can lead to high gross earnings, the relationship is not strongly correlated.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3300" dirty="0">
                <a:latin typeface="+mj-lt"/>
                <a:cs typeface="Times New Roman" panose="02020603050405020304" pitchFamily="18" charset="0"/>
              </a:rPr>
              <a:t>Votes</a:t>
            </a:r>
            <a:r>
              <a:rPr lang="en-IN" sz="3300" b="0" dirty="0">
                <a:latin typeface="+mj-lt"/>
                <a:cs typeface="Times New Roman" panose="02020603050405020304" pitchFamily="18" charset="0"/>
              </a:rPr>
              <a:t> :-The number of user votes is strongly correlated with both budget and box office gross, yet vote quantity doesn’t necessarily mean higher average ratings.</a:t>
            </a:r>
            <a:endParaRPr lang="en-US" sz="3300" b="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6" name="image1.png">
            <a:extLst>
              <a:ext uri="{FF2B5EF4-FFF2-40B4-BE49-F238E27FC236}">
                <a16:creationId xmlns:a16="http://schemas.microsoft.com/office/drawing/2014/main" id="{5B7B8401-F9C4-2E11-75EF-F398F9D9B8FB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-150586" y="0"/>
            <a:ext cx="5943600" cy="1028700"/>
          </a:xfrm>
          <a:prstGeom prst="rect">
            <a:avLst/>
          </a:prstGeom>
          <a:ln/>
        </p:spPr>
      </p:pic>
      <p:pic>
        <p:nvPicPr>
          <p:cNvPr id="9" name="object 82">
            <a:extLst>
              <a:ext uri="{FF2B5EF4-FFF2-40B4-BE49-F238E27FC236}">
                <a16:creationId xmlns:a16="http://schemas.microsoft.com/office/drawing/2014/main" id="{7D292A4F-9FEE-4366-40D5-3E722D59506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87943" y="3014187"/>
            <a:ext cx="5638800" cy="68264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41631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60D97-3303-8A8B-7AAF-7DC7F2221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EC6C8-6D8F-0633-F76C-73E34BE67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006350"/>
            <a:ext cx="16459200" cy="1354217"/>
          </a:xfrm>
        </p:spPr>
        <p:txBody>
          <a:bodyPr/>
          <a:lstStyle/>
          <a:p>
            <a:pPr algn="ctr"/>
            <a:r>
              <a:rPr lang="en-US" sz="8800" u="sng" spc="254" dirty="0"/>
              <a:t>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805E4-8D5F-52E0-52E0-3D8FCFD62D37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609600" y="2857500"/>
            <a:ext cx="9982200" cy="6423150"/>
          </a:xfrm>
        </p:spPr>
        <p:txBody>
          <a:bodyPr/>
          <a:lstStyle/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3600" b="0" dirty="0">
                <a:latin typeface="+mj-lt"/>
                <a:cs typeface="Times New Roman" panose="02020603050405020304" pitchFamily="18" charset="0"/>
              </a:rPr>
              <a:t>This analysis provides a comprehensive understanding of factors influencing movie ratings on IMDB.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endParaRPr lang="en-IN" sz="3600" b="0" dirty="0">
              <a:latin typeface="+mj-lt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3600" b="0" dirty="0">
                <a:latin typeface="+mj-lt"/>
                <a:cs typeface="Times New Roman" panose="02020603050405020304" pitchFamily="18" charset="0"/>
              </a:rPr>
              <a:t>The findings can guide future movie productions in choosing genres, directors, and budgeting to optimize success.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endParaRPr lang="en-IN" sz="3600" b="0" dirty="0">
              <a:latin typeface="+mj-lt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3600" b="0" dirty="0">
                <a:latin typeface="+mj-lt"/>
                <a:cs typeface="Times New Roman" panose="02020603050405020304" pitchFamily="18" charset="0"/>
              </a:rPr>
              <a:t>Ongoing analysis and additional factors such as marketing, release timing, and audience demographics can further refine these insights.</a:t>
            </a:r>
            <a:endParaRPr lang="en-US" sz="3600" b="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6" name="image1.png">
            <a:extLst>
              <a:ext uri="{FF2B5EF4-FFF2-40B4-BE49-F238E27FC236}">
                <a16:creationId xmlns:a16="http://schemas.microsoft.com/office/drawing/2014/main" id="{6CDB5E89-001F-68AF-1C3F-1F08602725AD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-150586" y="0"/>
            <a:ext cx="5943600" cy="1028700"/>
          </a:xfrm>
          <a:prstGeom prst="rect">
            <a:avLst/>
          </a:prstGeom>
          <a:ln/>
        </p:spPr>
      </p:pic>
      <p:pic>
        <p:nvPicPr>
          <p:cNvPr id="8" name="object 81">
            <a:extLst>
              <a:ext uri="{FF2B5EF4-FFF2-40B4-BE49-F238E27FC236}">
                <a16:creationId xmlns:a16="http://schemas.microsoft.com/office/drawing/2014/main" id="{F390D26F-E775-6FCA-BA37-D27CA784EDE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72800" y="2873829"/>
            <a:ext cx="6910388" cy="66740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07671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-1"/>
            <a:ext cx="5953124" cy="102869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886" y="-9208"/>
            <a:ext cx="18288000" cy="13145135"/>
            <a:chOff x="1981200" y="-2858135"/>
            <a:chExt cx="18288000" cy="13145135"/>
          </a:xfrm>
        </p:grpSpPr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34875" y="0"/>
              <a:ext cx="5953125" cy="10287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81200" y="-2858135"/>
              <a:ext cx="18288000" cy="1028700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75654" y="7278362"/>
            <a:ext cx="8698765" cy="1428129"/>
          </a:xfrm>
          <a:prstGeom prst="rect">
            <a:avLst/>
          </a:prstGeom>
        </p:spPr>
      </p:pic>
      <p:pic>
        <p:nvPicPr>
          <p:cNvPr id="7" name="image1.png">
            <a:extLst>
              <a:ext uri="{FF2B5EF4-FFF2-40B4-BE49-F238E27FC236}">
                <a16:creationId xmlns:a16="http://schemas.microsoft.com/office/drawing/2014/main" id="{DF91C64A-E0A0-EF59-EFC2-20EC38825C81}"/>
              </a:ext>
            </a:extLst>
          </p:cNvPr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3456123" y="492170"/>
            <a:ext cx="10318296" cy="2362200"/>
          </a:xfrm>
          <a:prstGeom prst="rect">
            <a:avLst/>
          </a:prstGeom>
          <a:ln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8629DE9-7843-D2A1-60F9-BA500A329A18}"/>
              </a:ext>
            </a:extLst>
          </p:cNvPr>
          <p:cNvSpPr/>
          <p:nvPr/>
        </p:nvSpPr>
        <p:spPr>
          <a:xfrm>
            <a:off x="914400" y="3820059"/>
            <a:ext cx="15925800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sz="16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</a:t>
            </a:r>
            <a:endParaRPr lang="en-US" sz="166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527</TotalTime>
  <Words>503</Words>
  <Application>Microsoft Office PowerPoint</Application>
  <PresentationFormat>Custom</PresentationFormat>
  <Paragraphs>52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(Headings)</vt:lpstr>
      <vt:lpstr>Trebuchet MS</vt:lpstr>
      <vt:lpstr>Wingdings</vt:lpstr>
      <vt:lpstr>Office Theme</vt:lpstr>
      <vt:lpstr>PowerPoint Presentation</vt:lpstr>
      <vt:lpstr>PROJECT OVERVIEW</vt:lpstr>
      <vt:lpstr>APPROACH</vt:lpstr>
      <vt:lpstr>BACKGROUND</vt:lpstr>
      <vt:lpstr>KEY FEATURES</vt:lpstr>
      <vt:lpstr>DASHBOARD</vt:lpstr>
      <vt:lpstr>SUMMARY &amp; INSIGHTS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Administrator</dc:creator>
  <cp:lastModifiedBy>Aditi Khade</cp:lastModifiedBy>
  <cp:revision>51</cp:revision>
  <dcterms:created xsi:type="dcterms:W3CDTF">2025-07-15T18:03:54Z</dcterms:created>
  <dcterms:modified xsi:type="dcterms:W3CDTF">2025-08-05T10:04:57Z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2024-09-17T00:00:00Z</vt:filetime>
  </property>
  <property fmtid="{D5CDD505-2E9C-101B-9397-08002B2CF9AE}" pid="3" name="LastSaved">
    <vt:filetime>2025-07-15T00:00:00Z</vt:filetime>
  </property>
</Properties>
</file>